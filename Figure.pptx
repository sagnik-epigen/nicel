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2" r:id="rId3"/>
    <p:sldId id="257" r:id="rId4"/>
    <p:sldId id="258" r:id="rId5"/>
    <p:sldId id="261" r:id="rId6"/>
    <p:sldId id="259" r:id="rId7"/>
    <p:sldId id="260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327"/>
  </p:normalViewPr>
  <p:slideViewPr>
    <p:cSldViewPr snapToGrid="0">
      <p:cViewPr varScale="1">
        <p:scale>
          <a:sx n="77" d="100"/>
          <a:sy n="77" d="100"/>
        </p:scale>
        <p:origin x="30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6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4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4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2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9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9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1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4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8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3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4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3D64C-61BD-2347-8D14-279997CFC31B}" type="datetimeFigureOut">
              <a:rPr lang="en-US" smtClean="0"/>
              <a:t>28-Sep-22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BA6F5-9EEF-264E-9C45-ECCE1BBC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9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C96AC8-AC1D-994A-75E2-02C007044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Image processing tool for quantitative analysis of the </a:t>
            </a:r>
            <a:r>
              <a:rPr lang="en-US" dirty="0" err="1"/>
              <a:t>NiCE</a:t>
            </a:r>
            <a:r>
              <a:rPr lang="en-US" dirty="0"/>
              <a:t>-View Seq images</a:t>
            </a:r>
          </a:p>
        </p:txBody>
      </p:sp>
    </p:spTree>
    <p:extLst>
      <p:ext uri="{BB962C8B-B14F-4D97-AF65-F5344CB8AC3E}">
        <p14:creationId xmlns:p14="http://schemas.microsoft.com/office/powerpoint/2010/main" val="924811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A4CE-4BFF-0681-CF8B-19869081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Image:</a:t>
            </a:r>
          </a:p>
        </p:txBody>
      </p: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EDE8744D-A1EF-920B-4B8E-9197E317C9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2821781"/>
            <a:ext cx="5915025" cy="591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94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59BFC-6CF0-B51C-0680-386D45928FDE}"/>
              </a:ext>
            </a:extLst>
          </p:cNvPr>
          <p:cNvSpPr txBox="1"/>
          <p:nvPr/>
        </p:nvSpPr>
        <p:spPr>
          <a:xfrm>
            <a:off x="520861" y="740780"/>
            <a:ext cx="3541853" cy="89562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Flow of the work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3EF5D-6141-B9E5-A6F7-C56F5E2C5605}"/>
              </a:ext>
            </a:extLst>
          </p:cNvPr>
          <p:cNvSpPr txBox="1"/>
          <p:nvPr/>
        </p:nvSpPr>
        <p:spPr>
          <a:xfrm>
            <a:off x="4236334" y="740780"/>
            <a:ext cx="2424896" cy="2979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F1F8B-7A63-19A7-44BD-3ABBFE940446}"/>
              </a:ext>
            </a:extLst>
          </p:cNvPr>
          <p:cNvSpPr txBox="1"/>
          <p:nvPr/>
        </p:nvSpPr>
        <p:spPr>
          <a:xfrm>
            <a:off x="4236334" y="4085863"/>
            <a:ext cx="2424896" cy="24654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82BCD-3C1D-9E0A-CA01-BD289147721B}"/>
              </a:ext>
            </a:extLst>
          </p:cNvPr>
          <p:cNvSpPr txBox="1"/>
          <p:nvPr/>
        </p:nvSpPr>
        <p:spPr>
          <a:xfrm>
            <a:off x="4236334" y="6807843"/>
            <a:ext cx="2424896" cy="24654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A0137-90FD-2CC3-7F1C-1B1B90D1DC64}"/>
              </a:ext>
            </a:extLst>
          </p:cNvPr>
          <p:cNvSpPr txBox="1"/>
          <p:nvPr/>
        </p:nvSpPr>
        <p:spPr>
          <a:xfrm>
            <a:off x="4502552" y="1875099"/>
            <a:ext cx="183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E2198-B079-C89A-43E4-0EA9592ABCFB}"/>
              </a:ext>
            </a:extLst>
          </p:cNvPr>
          <p:cNvSpPr txBox="1"/>
          <p:nvPr/>
        </p:nvSpPr>
        <p:spPr>
          <a:xfrm>
            <a:off x="4388735" y="5034263"/>
            <a:ext cx="183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45D50-64BA-BABD-538E-8977D033C4A6}"/>
              </a:ext>
            </a:extLst>
          </p:cNvPr>
          <p:cNvSpPr txBox="1"/>
          <p:nvPr/>
        </p:nvSpPr>
        <p:spPr>
          <a:xfrm>
            <a:off x="4492906" y="7846235"/>
            <a:ext cx="1834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Chromatin Index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E8E190-457E-5308-DF9C-E651A23A1111}"/>
              </a:ext>
            </a:extLst>
          </p:cNvPr>
          <p:cNvSpPr txBox="1"/>
          <p:nvPr/>
        </p:nvSpPr>
        <p:spPr>
          <a:xfrm>
            <a:off x="381965" y="208922"/>
            <a:ext cx="82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61324-7BF5-AEAE-F484-88E2E1FAD57C}"/>
              </a:ext>
            </a:extLst>
          </p:cNvPr>
          <p:cNvSpPr/>
          <p:nvPr/>
        </p:nvSpPr>
        <p:spPr>
          <a:xfrm>
            <a:off x="1074958" y="858669"/>
            <a:ext cx="2433657" cy="765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</a:rPr>
              <a:t>Clean the Noise in RGB 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DD4469-3A7B-8DA9-4031-81EE9D8BCCB1}"/>
              </a:ext>
            </a:extLst>
          </p:cNvPr>
          <p:cNvSpPr/>
          <p:nvPr/>
        </p:nvSpPr>
        <p:spPr>
          <a:xfrm>
            <a:off x="1074958" y="1774744"/>
            <a:ext cx="2433657" cy="1092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Pick the right values in HSV to create protein and cell masks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CA50A-A989-2243-3912-BBEF4B7A7E4B}"/>
              </a:ext>
            </a:extLst>
          </p:cNvPr>
          <p:cNvSpPr/>
          <p:nvPr/>
        </p:nvSpPr>
        <p:spPr>
          <a:xfrm>
            <a:off x="1074958" y="3026752"/>
            <a:ext cx="2433658" cy="1092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Apply Dilations </a:t>
            </a:r>
            <a:r>
              <a:rPr lang="en-US" dirty="0" err="1"/>
              <a:t>upto</a:t>
            </a:r>
            <a:r>
              <a:rPr lang="en-US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1E9443-F741-219A-BA7A-C91D66DD526A}"/>
              </a:ext>
            </a:extLst>
          </p:cNvPr>
          <p:cNvSpPr/>
          <p:nvPr/>
        </p:nvSpPr>
        <p:spPr>
          <a:xfrm>
            <a:off x="1074958" y="4311559"/>
            <a:ext cx="2432389" cy="1092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Hole closing Morphological operation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0764C0-18DA-9717-BF86-9B767ECB8C8A}"/>
              </a:ext>
            </a:extLst>
          </p:cNvPr>
          <p:cNvSpPr/>
          <p:nvPr/>
        </p:nvSpPr>
        <p:spPr>
          <a:xfrm>
            <a:off x="1074958" y="5596366"/>
            <a:ext cx="2432389" cy="1102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Applying Distance Transform and thresholding for foreground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6BA1B-3EEE-5A82-C92D-21F1FA3C2B79}"/>
              </a:ext>
            </a:extLst>
          </p:cNvPr>
          <p:cNvSpPr/>
          <p:nvPr/>
        </p:nvSpPr>
        <p:spPr>
          <a:xfrm>
            <a:off x="1074957" y="7008313"/>
            <a:ext cx="2432389" cy="1161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Connected components and Watershed Algorithms to label cells and segment 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B569CF-7A70-5A07-5245-9B6FC50EF186}"/>
              </a:ext>
            </a:extLst>
          </p:cNvPr>
          <p:cNvSpPr/>
          <p:nvPr/>
        </p:nvSpPr>
        <p:spPr>
          <a:xfrm>
            <a:off x="1074957" y="8479219"/>
            <a:ext cx="2432389" cy="1000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Extracting Intensity Information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5C7C4A-3C64-E298-05F5-3201E2B214F9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2291787" y="1623996"/>
            <a:ext cx="0" cy="15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0A1E31-3EE1-B685-0481-757373F39808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2291787" y="2866780"/>
            <a:ext cx="0" cy="159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FE7F1E-178E-D7A3-FA6D-9E18AB3CC64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2291153" y="4118788"/>
            <a:ext cx="634" cy="19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457CEC-7D1E-B433-C9EF-6E95C21F4FF8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2291153" y="5403595"/>
            <a:ext cx="0" cy="19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D89968-63F5-929F-6030-B77364D074C3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2291152" y="6698493"/>
            <a:ext cx="1" cy="309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E41F469-6802-E57B-509D-229413FE8259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2291152" y="8169400"/>
            <a:ext cx="0" cy="309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0">
            <a:extLst>
              <a:ext uri="{FF2B5EF4-FFF2-40B4-BE49-F238E27FC236}">
                <a16:creationId xmlns:a16="http://schemas.microsoft.com/office/drawing/2014/main" id="{82704396-4B58-79AD-2AF3-86196B413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334" y="1078226"/>
            <a:ext cx="2465407" cy="246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0">
            <a:extLst>
              <a:ext uri="{FF2B5EF4-FFF2-40B4-BE49-F238E27FC236}">
                <a16:creationId xmlns:a16="http://schemas.microsoft.com/office/drawing/2014/main" id="{D2F453F4-F328-2C46-129F-EFCC6C656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348" y="4215173"/>
            <a:ext cx="2446868" cy="244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8D3758-4235-45F7-4AC8-6675C1A1F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424" y="7578247"/>
            <a:ext cx="2494188" cy="139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3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C98657-5F7E-E806-D40D-135F32A5DEDD}"/>
              </a:ext>
            </a:extLst>
          </p:cNvPr>
          <p:cNvSpPr txBox="1">
            <a:spLocks/>
          </p:cNvSpPr>
          <p:nvPr/>
        </p:nvSpPr>
        <p:spPr>
          <a:xfrm>
            <a:off x="580345" y="839461"/>
            <a:ext cx="2736169" cy="2230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AF4791-00AE-BA18-0800-87D8DD6EB3CC}"/>
              </a:ext>
            </a:extLst>
          </p:cNvPr>
          <p:cNvSpPr txBox="1">
            <a:spLocks/>
          </p:cNvSpPr>
          <p:nvPr/>
        </p:nvSpPr>
        <p:spPr>
          <a:xfrm>
            <a:off x="427945" y="534661"/>
            <a:ext cx="2736169" cy="2230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6AAC440-5F5E-F169-B792-180B730AA4DC}"/>
              </a:ext>
            </a:extLst>
          </p:cNvPr>
          <p:cNvSpPr txBox="1">
            <a:spLocks/>
          </p:cNvSpPr>
          <p:nvPr/>
        </p:nvSpPr>
        <p:spPr>
          <a:xfrm>
            <a:off x="3693886" y="839461"/>
            <a:ext cx="2736169" cy="2230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40FDF9-6B15-22E7-20AB-F081B839090B}"/>
              </a:ext>
            </a:extLst>
          </p:cNvPr>
          <p:cNvSpPr txBox="1">
            <a:spLocks/>
          </p:cNvSpPr>
          <p:nvPr/>
        </p:nvSpPr>
        <p:spPr>
          <a:xfrm>
            <a:off x="3693886" y="3444778"/>
            <a:ext cx="2736169" cy="2230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F6A571-8D86-A1BE-A1F1-C923DCCDD2B1}"/>
              </a:ext>
            </a:extLst>
          </p:cNvPr>
          <p:cNvSpPr txBox="1">
            <a:spLocks/>
          </p:cNvSpPr>
          <p:nvPr/>
        </p:nvSpPr>
        <p:spPr>
          <a:xfrm>
            <a:off x="580344" y="3444778"/>
            <a:ext cx="2736169" cy="2230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ADC17D-49DD-A3BF-7DB9-8869C8F6CF67}"/>
              </a:ext>
            </a:extLst>
          </p:cNvPr>
          <p:cNvSpPr txBox="1">
            <a:spLocks/>
          </p:cNvSpPr>
          <p:nvPr/>
        </p:nvSpPr>
        <p:spPr>
          <a:xfrm>
            <a:off x="580344" y="6050095"/>
            <a:ext cx="2736169" cy="2230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016FE34-06E6-B8C4-6882-B2E30E5D00AD}"/>
              </a:ext>
            </a:extLst>
          </p:cNvPr>
          <p:cNvSpPr txBox="1">
            <a:spLocks/>
          </p:cNvSpPr>
          <p:nvPr/>
        </p:nvSpPr>
        <p:spPr>
          <a:xfrm>
            <a:off x="3693885" y="6050095"/>
            <a:ext cx="2736169" cy="2230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DA25C-900D-7CCE-FAA8-D42C807DEEF5}"/>
              </a:ext>
            </a:extLst>
          </p:cNvPr>
          <p:cNvSpPr txBox="1"/>
          <p:nvPr/>
        </p:nvSpPr>
        <p:spPr>
          <a:xfrm>
            <a:off x="381965" y="208922"/>
            <a:ext cx="503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2. HCT116 control Image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090236-DD12-E1A7-145C-DE41ED4B9C8B}"/>
              </a:ext>
            </a:extLst>
          </p:cNvPr>
          <p:cNvSpPr txBox="1"/>
          <p:nvPr/>
        </p:nvSpPr>
        <p:spPr>
          <a:xfrm>
            <a:off x="1302083" y="1785765"/>
            <a:ext cx="12926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Masking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195A57-27D8-F33A-E91F-C035EA6F8F2C}"/>
              </a:ext>
            </a:extLst>
          </p:cNvPr>
          <p:cNvSpPr txBox="1"/>
          <p:nvPr/>
        </p:nvSpPr>
        <p:spPr>
          <a:xfrm>
            <a:off x="4415624" y="1649815"/>
            <a:ext cx="12926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CE784A-D823-DA28-2589-555A4967F709}"/>
              </a:ext>
            </a:extLst>
          </p:cNvPr>
          <p:cNvSpPr txBox="1"/>
          <p:nvPr/>
        </p:nvSpPr>
        <p:spPr>
          <a:xfrm>
            <a:off x="1302082" y="4098267"/>
            <a:ext cx="145563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Identification of each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B52FA-7181-D5EE-44DA-B473B6DA8762}"/>
              </a:ext>
            </a:extLst>
          </p:cNvPr>
          <p:cNvSpPr txBox="1"/>
          <p:nvPr/>
        </p:nvSpPr>
        <p:spPr>
          <a:xfrm>
            <a:off x="4334153" y="4220234"/>
            <a:ext cx="145563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Correlation of color channels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DFF87E-F822-B377-5DED-24E19657B3B2}"/>
              </a:ext>
            </a:extLst>
          </p:cNvPr>
          <p:cNvSpPr txBox="1"/>
          <p:nvPr/>
        </p:nvSpPr>
        <p:spPr>
          <a:xfrm>
            <a:off x="1203767" y="6565084"/>
            <a:ext cx="129269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Density plot for color channels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092394-A1DE-154A-50BA-59BA537524E9}"/>
              </a:ext>
            </a:extLst>
          </p:cNvPr>
          <p:cNvSpPr txBox="1"/>
          <p:nvPr/>
        </p:nvSpPr>
        <p:spPr>
          <a:xfrm>
            <a:off x="4459167" y="6450543"/>
            <a:ext cx="159329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Comparative</a:t>
            </a:r>
          </a:p>
          <a:p>
            <a:pPr algn="ctr"/>
            <a:r>
              <a:rPr lang="en-US" dirty="0"/>
              <a:t>Analysis between </a:t>
            </a:r>
            <a:r>
              <a:rPr lang="en-US" dirty="0" err="1"/>
              <a:t>zeiss</a:t>
            </a:r>
            <a:r>
              <a:rPr lang="en-US" dirty="0"/>
              <a:t> software and frame </a:t>
            </a:r>
          </a:p>
        </p:txBody>
      </p:sp>
      <p:pic>
        <p:nvPicPr>
          <p:cNvPr id="3074" name="Picture 2" descr="0">
            <a:extLst>
              <a:ext uri="{FF2B5EF4-FFF2-40B4-BE49-F238E27FC236}">
                <a16:creationId xmlns:a16="http://schemas.microsoft.com/office/drawing/2014/main" id="{AF041012-30AB-9D36-D67F-5C3CD73BC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15" y="808276"/>
            <a:ext cx="2434225" cy="243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0">
            <a:extLst>
              <a:ext uri="{FF2B5EF4-FFF2-40B4-BE49-F238E27FC236}">
                <a16:creationId xmlns:a16="http://schemas.microsoft.com/office/drawing/2014/main" id="{78F4AD34-9032-80B0-BDB6-CB0DC97E4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43429" y="808276"/>
            <a:ext cx="2434226" cy="243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0">
            <a:extLst>
              <a:ext uri="{FF2B5EF4-FFF2-40B4-BE49-F238E27FC236}">
                <a16:creationId xmlns:a16="http://schemas.microsoft.com/office/drawing/2014/main" id="{467A8B61-B016-EA7C-9324-E4F296052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49" y="3350570"/>
            <a:ext cx="2443265" cy="244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0">
            <a:extLst>
              <a:ext uri="{FF2B5EF4-FFF2-40B4-BE49-F238E27FC236}">
                <a16:creationId xmlns:a16="http://schemas.microsoft.com/office/drawing/2014/main" id="{144C4AF0-1041-8CC9-F42D-CC44AE6A1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77"/>
          <a:stretch/>
        </p:blipFill>
        <p:spPr bwMode="auto">
          <a:xfrm>
            <a:off x="4049646" y="3389885"/>
            <a:ext cx="2228009" cy="230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0">
            <a:extLst>
              <a:ext uri="{FF2B5EF4-FFF2-40B4-BE49-F238E27FC236}">
                <a16:creationId xmlns:a16="http://schemas.microsoft.com/office/drawing/2014/main" id="{982B912A-01B9-4F33-4F24-5AC80CEFA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6" y="6282578"/>
            <a:ext cx="2570364" cy="176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28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2BA8-69F1-E284-550D-41A9A6A4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92" y="990392"/>
            <a:ext cx="2352735" cy="236626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800" dirty="0"/>
              <a:t>ROC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97A12C-A001-EE85-DEDD-0FCCCC6240DA}"/>
              </a:ext>
            </a:extLst>
          </p:cNvPr>
          <p:cNvSpPr txBox="1">
            <a:spLocks/>
          </p:cNvSpPr>
          <p:nvPr/>
        </p:nvSpPr>
        <p:spPr>
          <a:xfrm>
            <a:off x="3881019" y="898552"/>
            <a:ext cx="2498562" cy="25148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AUC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E7AD12-3298-6318-92ED-DB11CDD3095F}"/>
              </a:ext>
            </a:extLst>
          </p:cNvPr>
          <p:cNvSpPr txBox="1">
            <a:spLocks/>
          </p:cNvSpPr>
          <p:nvPr/>
        </p:nvSpPr>
        <p:spPr>
          <a:xfrm>
            <a:off x="332592" y="4530317"/>
            <a:ext cx="2587301" cy="22362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42BA5-B9D2-B1DD-AFAB-877C5C037E93}"/>
              </a:ext>
            </a:extLst>
          </p:cNvPr>
          <p:cNvSpPr txBox="1"/>
          <p:nvPr/>
        </p:nvSpPr>
        <p:spPr>
          <a:xfrm>
            <a:off x="1203767" y="5289630"/>
            <a:ext cx="104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BOXPLOT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9416D6-AC83-2433-F212-3FEDC30030FC}"/>
              </a:ext>
            </a:extLst>
          </p:cNvPr>
          <p:cNvSpPr txBox="1">
            <a:spLocks/>
          </p:cNvSpPr>
          <p:nvPr/>
        </p:nvSpPr>
        <p:spPr>
          <a:xfrm>
            <a:off x="3881019" y="4540833"/>
            <a:ext cx="2587301" cy="22362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84058-96A7-ECE7-E1C9-3549A9CB8E9F}"/>
              </a:ext>
            </a:extLst>
          </p:cNvPr>
          <p:cNvSpPr txBox="1"/>
          <p:nvPr/>
        </p:nvSpPr>
        <p:spPr>
          <a:xfrm>
            <a:off x="4653023" y="546378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Density plot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221B8ED-0E71-474D-AFCB-EF67D741F2C9}"/>
              </a:ext>
            </a:extLst>
          </p:cNvPr>
          <p:cNvSpPr txBox="1">
            <a:spLocks/>
          </p:cNvSpPr>
          <p:nvPr/>
        </p:nvSpPr>
        <p:spPr>
          <a:xfrm>
            <a:off x="332593" y="7135491"/>
            <a:ext cx="6135728" cy="22362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10474-E130-7DB7-B97D-F7FA907CE2CC}"/>
              </a:ext>
            </a:extLst>
          </p:cNvPr>
          <p:cNvSpPr txBox="1"/>
          <p:nvPr/>
        </p:nvSpPr>
        <p:spPr>
          <a:xfrm>
            <a:off x="1324228" y="8068954"/>
            <a:ext cx="443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Distribution of the intensities for top samples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DAE0F-1FD7-7306-886A-7491E350941E}"/>
              </a:ext>
            </a:extLst>
          </p:cNvPr>
          <p:cNvSpPr txBox="1"/>
          <p:nvPr/>
        </p:nvSpPr>
        <p:spPr>
          <a:xfrm>
            <a:off x="233973" y="135262"/>
            <a:ext cx="573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3. Validation of the method </a:t>
            </a:r>
          </a:p>
        </p:txBody>
      </p:sp>
    </p:spTree>
    <p:extLst>
      <p:ext uri="{BB962C8B-B14F-4D97-AF65-F5344CB8AC3E}">
        <p14:creationId xmlns:p14="http://schemas.microsoft.com/office/powerpoint/2010/main" val="293695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3A156-C5C2-1CCC-F1C5-D6810C0D830F}"/>
              </a:ext>
            </a:extLst>
          </p:cNvPr>
          <p:cNvSpPr txBox="1"/>
          <p:nvPr/>
        </p:nvSpPr>
        <p:spPr>
          <a:xfrm>
            <a:off x="233974" y="537029"/>
            <a:ext cx="1814286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095A7-2C96-12E2-ED2E-A05B6F2D70F7}"/>
              </a:ext>
            </a:extLst>
          </p:cNvPr>
          <p:cNvSpPr txBox="1"/>
          <p:nvPr/>
        </p:nvSpPr>
        <p:spPr>
          <a:xfrm>
            <a:off x="2325915" y="53702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9D123-843D-31DF-9D15-55C4DCC551F1}"/>
              </a:ext>
            </a:extLst>
          </p:cNvPr>
          <p:cNvSpPr txBox="1"/>
          <p:nvPr/>
        </p:nvSpPr>
        <p:spPr>
          <a:xfrm>
            <a:off x="4608286" y="53702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FCD03-F5FF-CC12-5146-613E86AF33FB}"/>
              </a:ext>
            </a:extLst>
          </p:cNvPr>
          <p:cNvSpPr txBox="1"/>
          <p:nvPr/>
        </p:nvSpPr>
        <p:spPr>
          <a:xfrm>
            <a:off x="233974" y="135262"/>
            <a:ext cx="82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522C8-DCEB-A79A-7EA2-FB86FE587246}"/>
              </a:ext>
            </a:extLst>
          </p:cNvPr>
          <p:cNvSpPr txBox="1"/>
          <p:nvPr/>
        </p:nvSpPr>
        <p:spPr>
          <a:xfrm>
            <a:off x="292030" y="2662589"/>
            <a:ext cx="1814286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F6B77-42CF-7859-8D88-D1F9EF20EAE1}"/>
              </a:ext>
            </a:extLst>
          </p:cNvPr>
          <p:cNvSpPr txBox="1"/>
          <p:nvPr/>
        </p:nvSpPr>
        <p:spPr>
          <a:xfrm>
            <a:off x="2383971" y="266258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7FEDF-C1FC-7B34-0E3D-063EDCB5D2C3}"/>
              </a:ext>
            </a:extLst>
          </p:cNvPr>
          <p:cNvSpPr txBox="1"/>
          <p:nvPr/>
        </p:nvSpPr>
        <p:spPr>
          <a:xfrm>
            <a:off x="4666342" y="266258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8AA6F-1B2A-319D-A935-BA71DDAF9804}"/>
              </a:ext>
            </a:extLst>
          </p:cNvPr>
          <p:cNvSpPr txBox="1"/>
          <p:nvPr/>
        </p:nvSpPr>
        <p:spPr>
          <a:xfrm>
            <a:off x="319315" y="4788149"/>
            <a:ext cx="1814286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EA662-F8EF-D8E4-5721-DB86F92EDB9B}"/>
              </a:ext>
            </a:extLst>
          </p:cNvPr>
          <p:cNvSpPr txBox="1"/>
          <p:nvPr/>
        </p:nvSpPr>
        <p:spPr>
          <a:xfrm>
            <a:off x="2411256" y="478814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D3B40-4EF1-E3AE-7233-50C118711F98}"/>
              </a:ext>
            </a:extLst>
          </p:cNvPr>
          <p:cNvSpPr txBox="1"/>
          <p:nvPr/>
        </p:nvSpPr>
        <p:spPr>
          <a:xfrm>
            <a:off x="4693627" y="478814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36DE0D-C9A4-07C6-3B7D-DF17FB2DC84A}"/>
              </a:ext>
            </a:extLst>
          </p:cNvPr>
          <p:cNvSpPr txBox="1"/>
          <p:nvPr/>
        </p:nvSpPr>
        <p:spPr>
          <a:xfrm>
            <a:off x="319315" y="6913709"/>
            <a:ext cx="1814286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2037DE-8BB0-486C-0BAE-AC6D0BB9E2E9}"/>
              </a:ext>
            </a:extLst>
          </p:cNvPr>
          <p:cNvSpPr txBox="1"/>
          <p:nvPr/>
        </p:nvSpPr>
        <p:spPr>
          <a:xfrm>
            <a:off x="2411256" y="691370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AED0CD-B69D-9560-46B6-D933C777EFDB}"/>
              </a:ext>
            </a:extLst>
          </p:cNvPr>
          <p:cNvSpPr txBox="1"/>
          <p:nvPr/>
        </p:nvSpPr>
        <p:spPr>
          <a:xfrm>
            <a:off x="4693627" y="6913709"/>
            <a:ext cx="2090057" cy="175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48D9E-CCA9-411D-C16F-00D5FC8A27BE}"/>
              </a:ext>
            </a:extLst>
          </p:cNvPr>
          <p:cNvSpPr txBox="1"/>
          <p:nvPr/>
        </p:nvSpPr>
        <p:spPr>
          <a:xfrm>
            <a:off x="566057" y="1103086"/>
            <a:ext cx="1045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K562 main Image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660EF4-2FF5-19F6-99C6-004D7FBCAA96}"/>
              </a:ext>
            </a:extLst>
          </p:cNvPr>
          <p:cNvSpPr txBox="1"/>
          <p:nvPr/>
        </p:nvSpPr>
        <p:spPr>
          <a:xfrm>
            <a:off x="2906484" y="1091977"/>
            <a:ext cx="1045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HUT78 main Image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1C2AC9-AE0A-A6FF-C2DE-7BA5283F8F53}"/>
              </a:ext>
            </a:extLst>
          </p:cNvPr>
          <p:cNvSpPr txBox="1"/>
          <p:nvPr/>
        </p:nvSpPr>
        <p:spPr>
          <a:xfrm>
            <a:off x="5308598" y="1061892"/>
            <a:ext cx="1045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Hela main image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EB38F5-8075-9F0D-94E6-907146E2C66F}"/>
              </a:ext>
            </a:extLst>
          </p:cNvPr>
          <p:cNvSpPr txBox="1"/>
          <p:nvPr/>
        </p:nvSpPr>
        <p:spPr>
          <a:xfrm>
            <a:off x="5188855" y="3277943"/>
            <a:ext cx="1045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Hela masking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8A44C-F11D-F364-8C45-F6D07314A0DB}"/>
              </a:ext>
            </a:extLst>
          </p:cNvPr>
          <p:cNvSpPr txBox="1"/>
          <p:nvPr/>
        </p:nvSpPr>
        <p:spPr>
          <a:xfrm>
            <a:off x="3002642" y="3217537"/>
            <a:ext cx="1045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HUT78 masking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3FA703-0D06-C2FD-19A2-B410F8AC000F}"/>
              </a:ext>
            </a:extLst>
          </p:cNvPr>
          <p:cNvSpPr txBox="1"/>
          <p:nvPr/>
        </p:nvSpPr>
        <p:spPr>
          <a:xfrm>
            <a:off x="649445" y="3190857"/>
            <a:ext cx="1045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K562 masking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D09D5A-DD2E-EB49-3ECB-78F652CA4664}"/>
              </a:ext>
            </a:extLst>
          </p:cNvPr>
          <p:cNvSpPr txBox="1"/>
          <p:nvPr/>
        </p:nvSpPr>
        <p:spPr>
          <a:xfrm>
            <a:off x="5007429" y="5386640"/>
            <a:ext cx="1531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Hela cell Identification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1A36C2-200C-BD7F-6F2E-0A3E29D4FFBB}"/>
              </a:ext>
            </a:extLst>
          </p:cNvPr>
          <p:cNvSpPr txBox="1"/>
          <p:nvPr/>
        </p:nvSpPr>
        <p:spPr>
          <a:xfrm>
            <a:off x="2628829" y="5326234"/>
            <a:ext cx="178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HUT78 cell Identification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4454A5-D2CC-2DFC-390A-375E145EA240}"/>
              </a:ext>
            </a:extLst>
          </p:cNvPr>
          <p:cNvSpPr txBox="1"/>
          <p:nvPr/>
        </p:nvSpPr>
        <p:spPr>
          <a:xfrm>
            <a:off x="566057" y="5299554"/>
            <a:ext cx="1482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K562 cell identification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0497A5-57BB-B65C-C088-89870722ACD4}"/>
              </a:ext>
            </a:extLst>
          </p:cNvPr>
          <p:cNvSpPr txBox="1"/>
          <p:nvPr/>
        </p:nvSpPr>
        <p:spPr>
          <a:xfrm>
            <a:off x="5007429" y="7483955"/>
            <a:ext cx="1531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Hela color channel correlation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3908C2-FF15-D68F-506F-13A0545F9333}"/>
              </a:ext>
            </a:extLst>
          </p:cNvPr>
          <p:cNvSpPr txBox="1"/>
          <p:nvPr/>
        </p:nvSpPr>
        <p:spPr>
          <a:xfrm>
            <a:off x="2628829" y="7423549"/>
            <a:ext cx="1787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HUT78 color</a:t>
            </a:r>
          </a:p>
          <a:p>
            <a:r>
              <a:rPr lang="en-US" dirty="0"/>
              <a:t>channel correlation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9B29EE-5B02-E2D7-19F5-1B6D02F8A72F}"/>
              </a:ext>
            </a:extLst>
          </p:cNvPr>
          <p:cNvSpPr txBox="1"/>
          <p:nvPr/>
        </p:nvSpPr>
        <p:spPr>
          <a:xfrm>
            <a:off x="566057" y="7396869"/>
            <a:ext cx="1482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K562 color channel correlation</a:t>
            </a:r>
          </a:p>
        </p:txBody>
      </p:sp>
      <p:pic>
        <p:nvPicPr>
          <p:cNvPr id="1028" name="Picture 4" descr="0">
            <a:extLst>
              <a:ext uri="{FF2B5EF4-FFF2-40B4-BE49-F238E27FC236}">
                <a16:creationId xmlns:a16="http://schemas.microsoft.com/office/drawing/2014/main" id="{ED015BA7-4E01-4C94-40F0-691E9907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48" y="4645751"/>
            <a:ext cx="1903426" cy="195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0">
            <a:extLst>
              <a:ext uri="{FF2B5EF4-FFF2-40B4-BE49-F238E27FC236}">
                <a16:creationId xmlns:a16="http://schemas.microsoft.com/office/drawing/2014/main" id="{4889C30D-4C97-4B15-C231-AB9BA7281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76" y="537029"/>
            <a:ext cx="1828166" cy="1876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0">
            <a:extLst>
              <a:ext uri="{FF2B5EF4-FFF2-40B4-BE49-F238E27FC236}">
                <a16:creationId xmlns:a16="http://schemas.microsoft.com/office/drawing/2014/main" id="{F27FB8F2-E2F7-5BDF-9151-009C9E7B8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10" y="2536299"/>
            <a:ext cx="1944547" cy="199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0">
            <a:extLst>
              <a:ext uri="{FF2B5EF4-FFF2-40B4-BE49-F238E27FC236}">
                <a16:creationId xmlns:a16="http://schemas.microsoft.com/office/drawing/2014/main" id="{359D5582-43DC-0AB0-278B-ED8CB1A9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729" y="465586"/>
            <a:ext cx="1886537" cy="199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0">
            <a:extLst>
              <a:ext uri="{FF2B5EF4-FFF2-40B4-BE49-F238E27FC236}">
                <a16:creationId xmlns:a16="http://schemas.microsoft.com/office/drawing/2014/main" id="{67484850-2D2E-FF75-4BF3-F1D69EB0D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97" y="2600051"/>
            <a:ext cx="1892175" cy="200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0">
            <a:extLst>
              <a:ext uri="{FF2B5EF4-FFF2-40B4-BE49-F238E27FC236}">
                <a16:creationId xmlns:a16="http://schemas.microsoft.com/office/drawing/2014/main" id="{09867B38-6609-569F-E328-6D13D7BDC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65" y="4664703"/>
            <a:ext cx="2006563" cy="212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94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8CCE00-F8A6-77AF-DBBE-F902AE028BFA}"/>
              </a:ext>
            </a:extLst>
          </p:cNvPr>
          <p:cNvSpPr txBox="1"/>
          <p:nvPr/>
        </p:nvSpPr>
        <p:spPr>
          <a:xfrm>
            <a:off x="233974" y="135262"/>
            <a:ext cx="647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5. effects of different drug condition and open chromatin Index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A6DC06-4012-C248-DBC9-BDA2AC9CA20E}"/>
              </a:ext>
            </a:extLst>
          </p:cNvPr>
          <p:cNvSpPr txBox="1">
            <a:spLocks/>
          </p:cNvSpPr>
          <p:nvPr/>
        </p:nvSpPr>
        <p:spPr>
          <a:xfrm>
            <a:off x="513536" y="3597910"/>
            <a:ext cx="6135728" cy="22362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CF718-C30F-B8DF-CEB8-525B529E1C87}"/>
              </a:ext>
            </a:extLst>
          </p:cNvPr>
          <p:cNvSpPr txBox="1"/>
          <p:nvPr/>
        </p:nvSpPr>
        <p:spPr>
          <a:xfrm>
            <a:off x="1805651" y="1367741"/>
            <a:ext cx="3264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Flowchart on different Drug conditions such as TSA, JQ1, DMSO, </a:t>
            </a:r>
            <a:r>
              <a:rPr lang="en-US" dirty="0" err="1"/>
              <a:t>romidepsin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D98896-0BBA-4653-78B1-637CA747240C}"/>
              </a:ext>
            </a:extLst>
          </p:cNvPr>
          <p:cNvSpPr txBox="1">
            <a:spLocks/>
          </p:cNvSpPr>
          <p:nvPr/>
        </p:nvSpPr>
        <p:spPr>
          <a:xfrm>
            <a:off x="513536" y="771344"/>
            <a:ext cx="6135728" cy="22362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6CC97-85EE-E084-036E-3F8EBDE93ED6}"/>
              </a:ext>
            </a:extLst>
          </p:cNvPr>
          <p:cNvSpPr txBox="1"/>
          <p:nvPr/>
        </p:nvSpPr>
        <p:spPr>
          <a:xfrm>
            <a:off x="1882903" y="4531373"/>
            <a:ext cx="3092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Boxplot on different conditions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0BE0DFA-473A-57B7-DD73-95A9ACD173B6}"/>
              </a:ext>
            </a:extLst>
          </p:cNvPr>
          <p:cNvSpPr txBox="1">
            <a:spLocks/>
          </p:cNvSpPr>
          <p:nvPr/>
        </p:nvSpPr>
        <p:spPr>
          <a:xfrm>
            <a:off x="513536" y="6192569"/>
            <a:ext cx="6135728" cy="22362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7451A-AFD1-A534-9F44-8E04A8E9A581}"/>
              </a:ext>
            </a:extLst>
          </p:cNvPr>
          <p:cNvSpPr txBox="1"/>
          <p:nvPr/>
        </p:nvSpPr>
        <p:spPr>
          <a:xfrm>
            <a:off x="1574157" y="6941366"/>
            <a:ext cx="452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Showing the distribution and OCI thresholding</a:t>
            </a:r>
          </a:p>
        </p:txBody>
      </p:sp>
      <p:pic>
        <p:nvPicPr>
          <p:cNvPr id="2050" name="Picture 2" descr="Image preview">
            <a:extLst>
              <a:ext uri="{FF2B5EF4-FFF2-40B4-BE49-F238E27FC236}">
                <a16:creationId xmlns:a16="http://schemas.microsoft.com/office/drawing/2014/main" id="{AF03D501-F869-D255-2D15-32CBDB5AA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289" y="3007602"/>
            <a:ext cx="4841278" cy="295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25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1451</TotalTime>
  <Words>202</Words>
  <Application>Microsoft Office PowerPoint</Application>
  <PresentationFormat>A4 Paper (210x297 mm)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Image processing tool for quantitative analysis of the NiCE-View Seq images</vt:lpstr>
      <vt:lpstr>Original Image:</vt:lpstr>
      <vt:lpstr>PowerPoint Presentation</vt:lpstr>
      <vt:lpstr>PowerPoint Presentation</vt:lpstr>
      <vt:lpstr>ROC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Sen, Sagnik</dc:creator>
  <cp:lastModifiedBy>Devesh Tarasia</cp:lastModifiedBy>
  <cp:revision>6</cp:revision>
  <dcterms:created xsi:type="dcterms:W3CDTF">2022-09-12T18:56:37Z</dcterms:created>
  <dcterms:modified xsi:type="dcterms:W3CDTF">2022-09-28T10:39:22Z</dcterms:modified>
</cp:coreProperties>
</file>